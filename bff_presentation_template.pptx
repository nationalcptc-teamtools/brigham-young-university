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12191695" cy="493776"/>
          </a:xfrm>
          <a:prstGeom prst="rect">
            <a:avLst/>
          </a:prstGeom>
          <a:solidFill>
            <a:srgbClr val="6B7E96"/>
          </a:solidFill>
          <a:ln>
            <a:solidFill>
              <a:srgbClr val="6B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1440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[Inject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51967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CPTC  /  BUSINESS INJECT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01  /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Today’s discussion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02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719072"/>
            <a:ext cx="438912" cy="43891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438912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00784"/>
            <a:ext cx="2743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19072"/>
            <a:ext cx="630936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626D7B"/>
                </a:solidFill>
                <a:latin typeface="Calibri"/>
              </a:rPr>
              <a:t>What is happening and what the organization needs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08760" y="2432304"/>
            <a:ext cx="92811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22960" y="2798063"/>
            <a:ext cx="438912" cy="43891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39"/>
            <a:ext cx="438912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79775"/>
            <a:ext cx="2743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798063"/>
            <a:ext cx="630936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626D7B"/>
                </a:solidFill>
                <a:latin typeface="Calibri"/>
              </a:rPr>
              <a:t>What could go wrong and why it matters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08760" y="3511296"/>
            <a:ext cx="92811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3877056"/>
            <a:ext cx="438912" cy="43891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13632"/>
            <a:ext cx="438912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58768"/>
            <a:ext cx="2743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77056"/>
            <a:ext cx="630936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626D7B"/>
                </a:solidFill>
                <a:latin typeface="Calibri"/>
              </a:rPr>
              <a:t>What choices are available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4590288"/>
            <a:ext cx="92811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4956048"/>
            <a:ext cx="438912" cy="43891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92624"/>
            <a:ext cx="438912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937760"/>
            <a:ext cx="27432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Recommendation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956048"/>
            <a:ext cx="630936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0">
                <a:solidFill>
                  <a:srgbClr val="626D7B"/>
                </a:solidFill>
                <a:latin typeface="Calibri"/>
              </a:rPr>
              <a:t>What to do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02  /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Decision brief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27632"/>
            <a:ext cx="7543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626D7B"/>
                </a:solidFill>
                <a:latin typeface="Calibri"/>
              </a:rPr>
              <a:t>[What must the audience decide?]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779776"/>
            <a:ext cx="104241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145536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108960"/>
            <a:ext cx="7543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626D7B"/>
                </a:solidFill>
                <a:latin typeface="Calibri"/>
              </a:rPr>
              <a:t>[Which option do you recommend?]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261104"/>
            <a:ext cx="104241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626864"/>
            <a:ext cx="21945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90288"/>
            <a:ext cx="7543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0" i="1">
                <a:solidFill>
                  <a:srgbClr val="626D7B"/>
                </a:solidFill>
                <a:latin typeface="Calibri"/>
              </a:rPr>
              <a:t>[What should the audience remember?]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03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Situation and objective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WHAT IS HAPPENING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46177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0" i="1">
                <a:solidFill>
                  <a:srgbClr val="626D7B"/>
                </a:solidFill>
                <a:latin typeface="Calibri"/>
              </a:rPr>
              <a:t>[Describe the request, change, or problem.]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BUSINESS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6634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0" i="1">
                <a:solidFill>
                  <a:srgbClr val="626D7B"/>
                </a:solidFill>
                <a:latin typeface="Calibri"/>
              </a:rPr>
              <a:t>[What outcome does the organization want?]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1691640"/>
            <a:ext cx="0" cy="406908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63640" y="1664208"/>
            <a:ext cx="45720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KEY FACTS AND CONSTRAINTS</a:t>
            </a:r>
          </a:p>
        </p:txBody>
      </p:sp>
      <p:sp>
        <p:nvSpPr>
          <p:cNvPr id="16" name="Oval 15"/>
          <p:cNvSpPr/>
          <p:nvPr/>
        </p:nvSpPr>
        <p:spPr>
          <a:xfrm>
            <a:off x="6291072" y="2103120"/>
            <a:ext cx="365760" cy="3657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139696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84831"/>
            <a:ext cx="3977639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[Fact or constraint 1]</a:t>
            </a:r>
          </a:p>
        </p:txBody>
      </p:sp>
      <p:sp>
        <p:nvSpPr>
          <p:cNvPr id="19" name="Oval 18"/>
          <p:cNvSpPr/>
          <p:nvPr/>
        </p:nvSpPr>
        <p:spPr>
          <a:xfrm>
            <a:off x="6291072" y="2971800"/>
            <a:ext cx="365760" cy="3657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008376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53512"/>
            <a:ext cx="3977639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[Fact or constraint 2]</a:t>
            </a:r>
          </a:p>
        </p:txBody>
      </p:sp>
      <p:sp>
        <p:nvSpPr>
          <p:cNvPr id="22" name="Oval 21"/>
          <p:cNvSpPr/>
          <p:nvPr/>
        </p:nvSpPr>
        <p:spPr>
          <a:xfrm>
            <a:off x="6291072" y="3840480"/>
            <a:ext cx="365760" cy="3657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877056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22192"/>
            <a:ext cx="3977639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[Fact or constraint 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9204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93792"/>
            <a:ext cx="47548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[Mark unknowns that could change the analysis.]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04  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Timeline of events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424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Use for an incident sequence, project history, or planned milestones.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3163824"/>
            <a:ext cx="9875520" cy="0"/>
          </a:xfrm>
          <a:prstGeom prst="line">
            <a:avLst/>
          </a:prstGeom>
          <a:ln w="2540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" y="2898648"/>
            <a:ext cx="530352" cy="53035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03580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38528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6B7E96"/>
                </a:solidFill>
                <a:latin typeface="Calibri"/>
              </a:rPr>
              <a:t>[DATE / TIME]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67712"/>
            <a:ext cx="24688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[Event or milestone]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2898648"/>
            <a:ext cx="530352" cy="53035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03580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70332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6B7E96"/>
                </a:solidFill>
                <a:latin typeface="Calibri"/>
              </a:rPr>
              <a:t>[DATE / TIME]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41648"/>
            <a:ext cx="24688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[Event or milestone]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2898648"/>
            <a:ext cx="530352" cy="53035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3580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38528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6B7E96"/>
                </a:solidFill>
                <a:latin typeface="Calibri"/>
              </a:rPr>
              <a:t>[DATE / TIME]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67712"/>
            <a:ext cx="246888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[Event or milestone]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0" y="2898648"/>
            <a:ext cx="530352" cy="530352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3035808"/>
            <a:ext cx="5303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703320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6B7E96"/>
                </a:solidFill>
                <a:latin typeface="Calibri"/>
              </a:rPr>
              <a:t>[DATE / TIME]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041648"/>
            <a:ext cx="246888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[Event or milestone]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05  / 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Who is affected?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424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Place key groups by their influence and level of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148840"/>
            <a:ext cx="3904487" cy="1344168"/>
          </a:xfrm>
          <a:prstGeom prst="rect">
            <a:avLst/>
          </a:prstGeom>
          <a:solidFill>
            <a:srgbClr val="F2F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59" y="2148840"/>
            <a:ext cx="3904487" cy="1344168"/>
          </a:xfrm>
          <a:prstGeom prst="rect">
            <a:avLst/>
          </a:prstGeom>
          <a:solidFill>
            <a:srgbClr val="E0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3566160"/>
            <a:ext cx="3904487" cy="1344168"/>
          </a:xfrm>
          <a:prstGeom prst="rect">
            <a:avLst/>
          </a:prstGeom>
          <a:solidFill>
            <a:srgbClr val="E0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59" y="3566160"/>
            <a:ext cx="3904487" cy="1344168"/>
          </a:xfrm>
          <a:prstGeom prst="rect">
            <a:avLst/>
          </a:prstGeom>
          <a:solidFill>
            <a:srgbClr val="F2F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2350008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[Groups with high influence and high impact]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50008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[Groups with lower influence and high impact]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3730752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[Groups with high influence and lower impact]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730752"/>
            <a:ext cx="347472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[Groups with lower influence and lower impact]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00400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HIGH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325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LOW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75504"/>
            <a:ext cx="3977639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HIGH INFLUENCE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175504"/>
            <a:ext cx="3977639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LOW INFLUENCE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06  / 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Four-step response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3327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Move from the request to a decision in four steps.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2487168"/>
            <a:ext cx="594360" cy="5943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523744"/>
            <a:ext cx="594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1B2E4B"/>
                </a:solidFill>
                <a:latin typeface="Georgia"/>
              </a:rPr>
              <a:t>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822191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[Clarify the goal and constraints]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2779776"/>
            <a:ext cx="2029967" cy="0"/>
          </a:xfrm>
          <a:prstGeom prst="line">
            <a:avLst/>
          </a:prstGeom>
          <a:ln w="2540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vron 15"/>
          <p:cNvSpPr/>
          <p:nvPr/>
        </p:nvSpPr>
        <p:spPr>
          <a:xfrm>
            <a:off x="3913632" y="2670048"/>
            <a:ext cx="201168" cy="219456"/>
          </a:xfrm>
          <a:prstGeom prst="chevron">
            <a:avLst/>
          </a:prstGeom>
          <a:solidFill>
            <a:srgbClr val="6B7E96"/>
          </a:solidFill>
          <a:ln>
            <a:solidFill>
              <a:srgbClr val="6B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2487168"/>
            <a:ext cx="594360" cy="5943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523744"/>
            <a:ext cx="594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91840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1B2E4B"/>
                </a:solidFill>
                <a:latin typeface="Georgia"/>
              </a:rPr>
              <a:t>Assess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822191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[Identify risks and impact]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83480" y="2779776"/>
            <a:ext cx="2029968" cy="0"/>
          </a:xfrm>
          <a:prstGeom prst="line">
            <a:avLst/>
          </a:prstGeom>
          <a:ln w="2540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6793992" y="2670048"/>
            <a:ext cx="201168" cy="219456"/>
          </a:xfrm>
          <a:prstGeom prst="chevron">
            <a:avLst/>
          </a:prstGeom>
          <a:solidFill>
            <a:srgbClr val="6B7E96"/>
          </a:solidFill>
          <a:ln>
            <a:solidFill>
              <a:srgbClr val="6B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0" y="2487168"/>
            <a:ext cx="594360" cy="5943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523744"/>
            <a:ext cx="594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91840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1B2E4B"/>
                </a:solidFill>
                <a:latin typeface="Georgia"/>
              </a:rP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22191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[Choose safeguards and owners]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3840" y="2779776"/>
            <a:ext cx="2029968" cy="0"/>
          </a:xfrm>
          <a:prstGeom prst="line">
            <a:avLst/>
          </a:prstGeom>
          <a:ln w="2540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9674352" y="2670048"/>
            <a:ext cx="201168" cy="219456"/>
          </a:xfrm>
          <a:prstGeom prst="chevron">
            <a:avLst/>
          </a:prstGeom>
          <a:solidFill>
            <a:srgbClr val="6B7E96"/>
          </a:solidFill>
          <a:ln>
            <a:solidFill>
              <a:srgbClr val="6B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4120" y="2487168"/>
            <a:ext cx="594360" cy="594360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523744"/>
            <a:ext cx="594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291840"/>
            <a:ext cx="21945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000" b="1" i="0">
                <a:solidFill>
                  <a:srgbClr val="1B2E4B"/>
                </a:solidFill>
                <a:latin typeface="Georgia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822191"/>
            <a:ext cx="2377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[Set next steps and success checks]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07  /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Risk priority matrix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Place risks by likelihood and severity to show what needs attention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194560"/>
            <a:ext cx="2368296" cy="859536"/>
          </a:xfrm>
          <a:prstGeom prst="rect">
            <a:avLst/>
          </a:prstGeom>
          <a:solidFill>
            <a:srgbClr val="F2F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505456"/>
            <a:ext cx="236829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6B7E96"/>
                </a:solidFill>
                <a:latin typeface="Calibri"/>
              </a:rP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194560"/>
            <a:ext cx="2368296" cy="859536"/>
          </a:xfrm>
          <a:prstGeom prst="rect">
            <a:avLst/>
          </a:prstGeom>
          <a:solidFill>
            <a:srgbClr val="F2F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05456"/>
            <a:ext cx="236829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6B7E96"/>
                </a:solidFill>
                <a:latin typeface="Calibri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194560"/>
            <a:ext cx="2368296" cy="859536"/>
          </a:xfrm>
          <a:prstGeom prst="rect">
            <a:avLst/>
          </a:prstGeom>
          <a:solidFill>
            <a:srgbClr val="E0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2450591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3108960"/>
            <a:ext cx="2368296" cy="859536"/>
          </a:xfrm>
          <a:prstGeom prst="rect">
            <a:avLst/>
          </a:prstGeom>
          <a:solidFill>
            <a:srgbClr val="F2F5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3419856"/>
            <a:ext cx="236829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6B7E96"/>
                </a:solidFill>
                <a:latin typeface="Calibri"/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108960"/>
            <a:ext cx="2368296" cy="859536"/>
          </a:xfrm>
          <a:prstGeom prst="rect">
            <a:avLst/>
          </a:prstGeom>
          <a:solidFill>
            <a:srgbClr val="E0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419856"/>
            <a:ext cx="2368296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6B7E96"/>
                </a:solidFill>
                <a:latin typeface="Calibri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108960"/>
            <a:ext cx="2368296" cy="859536"/>
          </a:xfrm>
          <a:prstGeom prst="rect">
            <a:avLst/>
          </a:prstGeom>
          <a:solidFill>
            <a:srgbClr val="F6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3364991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4023360"/>
            <a:ext cx="2368296" cy="859536"/>
          </a:xfrm>
          <a:prstGeom prst="rect">
            <a:avLst/>
          </a:prstGeom>
          <a:solidFill>
            <a:srgbClr val="E0E8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8568" y="4279392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023360"/>
            <a:ext cx="2368296" cy="859536"/>
          </a:xfrm>
          <a:prstGeom prst="rect">
            <a:avLst/>
          </a:prstGeom>
          <a:solidFill>
            <a:srgbClr val="F6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279392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4023360"/>
            <a:ext cx="2368296" cy="859536"/>
          </a:xfrm>
          <a:prstGeom prst="rect">
            <a:avLst/>
          </a:prstGeom>
          <a:solidFill>
            <a:srgbClr val="EFDC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4888" y="4279392"/>
            <a:ext cx="2148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246120"/>
            <a:ext cx="1234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SEVERITY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507492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07492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LIKELIHOOD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074920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1" i="0">
                <a:solidFill>
                  <a:srgbClr val="6B7E96"/>
                </a:solidFill>
                <a:latin typeface="Calibri"/>
              </a:rPr>
              <a:t>HIGH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08  /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Risk snapshot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21488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64208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BUSINESS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64208"/>
            <a:ext cx="1920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64208"/>
            <a:ext cx="2560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57984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57984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[Risk 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57984"/>
            <a:ext cx="310896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[Operational, financial, safety, or trust impact]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57984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[Low / Med / High]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57984"/>
            <a:ext cx="25603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[Mitigation or owner]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2980944"/>
            <a:ext cx="1037844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246120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246120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[Risk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246120"/>
            <a:ext cx="310896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[Operational, financial, safety, or trust impact]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[Low / Med / High]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25603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[Mitigation or owner]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069080"/>
            <a:ext cx="1037844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4334256"/>
            <a:ext cx="411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34256"/>
            <a:ext cx="1783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[Risk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334256"/>
            <a:ext cx="310896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[Operational, financial, safety, or trust impact]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34256"/>
            <a:ext cx="1828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[Low / Med / High]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334256"/>
            <a:ext cx="25603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[Mitigation or owner]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5157216"/>
            <a:ext cx="1037844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09  / 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Compare the options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5156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Compare a small number of realistic choices against the same criteria.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03120"/>
            <a:ext cx="2331720" cy="45720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2112263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103120"/>
            <a:ext cx="2423160" cy="45720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2203704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103120"/>
            <a:ext cx="2423160" cy="45720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2212848"/>
            <a:ext cx="2203704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2880360" cy="45720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212848"/>
            <a:ext cx="2660904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OPTION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4327"/>
            <a:ext cx="229514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79775"/>
            <a:ext cx="2112263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[Risk reduction]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624327"/>
            <a:ext cx="23865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779775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624327"/>
            <a:ext cx="23865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2779775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624327"/>
            <a:ext cx="28437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779775"/>
            <a:ext cx="26609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37559"/>
            <a:ext cx="229514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493007"/>
            <a:ext cx="2112263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[Cost / effort]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337559"/>
            <a:ext cx="23865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493007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3337559"/>
            <a:ext cx="23865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3493007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337559"/>
            <a:ext cx="28437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493007"/>
            <a:ext cx="26609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050791"/>
            <a:ext cx="229514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206240"/>
            <a:ext cx="2112263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[Customer impact]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4050791"/>
            <a:ext cx="23865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4206240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4050791"/>
            <a:ext cx="23865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4206240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50791"/>
            <a:ext cx="2843784" cy="640080"/>
          </a:xfrm>
          <a:prstGeom prst="rect">
            <a:avLst/>
          </a:prstGeom>
          <a:solidFill>
            <a:srgbClr val="F2F5F8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206240"/>
            <a:ext cx="26609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764023"/>
            <a:ext cx="229514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19471"/>
            <a:ext cx="2112263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[Time to deliver]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764023"/>
            <a:ext cx="23865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4919471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4764023"/>
            <a:ext cx="23865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4919471"/>
            <a:ext cx="22037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764023"/>
            <a:ext cx="2843784" cy="640080"/>
          </a:xfrm>
          <a:prstGeom prst="rect">
            <a:avLst/>
          </a:prstGeom>
          <a:solidFill>
            <a:srgbClr val="FFFFFF"/>
          </a:solidFill>
          <a:ln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919471"/>
            <a:ext cx="266090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626D7B"/>
                </a:solidFill>
                <a:latin typeface="Calibri"/>
              </a:rPr>
              <a:t>[Add comparison]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10  / 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Recommended actions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56692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6B7E9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46504"/>
            <a:ext cx="8961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[Recommendation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58568"/>
            <a:ext cx="8869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[Briefly state the action and why it helps.]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2880360"/>
            <a:ext cx="95097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218688"/>
            <a:ext cx="56692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6B7E9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82112"/>
            <a:ext cx="8961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[Recommendation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94176"/>
            <a:ext cx="8869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[Briefly state the action and why it helps.]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0" y="4315968"/>
            <a:ext cx="9509760" cy="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4654296"/>
            <a:ext cx="566928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6B7E9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617720"/>
            <a:ext cx="8961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[Recommendation 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29783"/>
            <a:ext cx="8869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[Briefly state the action and why it helps.]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11  /  RISK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Safeguards by stage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Organize controls around preventing problems, finding them early, and limiting damage.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148840"/>
            <a:ext cx="1965960" cy="786384"/>
          </a:xfrm>
          <a:prstGeom prst="rect">
            <a:avLst/>
          </a:prstGeom>
          <a:solidFill>
            <a:srgbClr val="E0E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40864"/>
            <a:ext cx="16459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267712"/>
            <a:ext cx="30632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[Reduce the chance of the event]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6520" y="2542032"/>
            <a:ext cx="594360" cy="0"/>
          </a:xfrm>
          <a:prstGeom prst="line">
            <a:avLst/>
          </a:prstGeom>
          <a:ln w="1905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69480" y="2267712"/>
            <a:ext cx="35204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[Examples, owner, or evidence]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291840"/>
            <a:ext cx="1965960" cy="78638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83864"/>
            <a:ext cx="16459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410712"/>
            <a:ext cx="30632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[Spot suspicious or unsafe activity]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3685032"/>
            <a:ext cx="594360" cy="0"/>
          </a:xfrm>
          <a:prstGeom prst="line">
            <a:avLst/>
          </a:prstGeom>
          <a:ln w="1905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69480" y="3410712"/>
            <a:ext cx="35204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[Examples, owner, or evidence]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34840"/>
            <a:ext cx="1965960" cy="786384"/>
          </a:xfrm>
          <a:prstGeom prst="rect">
            <a:avLst/>
          </a:prstGeom>
          <a:solidFill>
            <a:srgbClr val="F6EFDA"/>
          </a:solidFill>
          <a:ln>
            <a:solidFill>
              <a:srgbClr val="F6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26864"/>
            <a:ext cx="164592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Georgia"/>
              </a:rP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553712"/>
            <a:ext cx="30632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[Contain impact and restore service]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46520" y="4828031"/>
            <a:ext cx="594360" cy="0"/>
          </a:xfrm>
          <a:prstGeom prst="line">
            <a:avLst/>
          </a:prstGeom>
          <a:ln w="1905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69480" y="4553712"/>
            <a:ext cx="3520440" cy="5120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[Examples, owner, or evidence]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12  / 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Implementation roadmap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487168"/>
            <a:ext cx="10149840" cy="0"/>
          </a:xfrm>
          <a:prstGeom prst="line">
            <a:avLst/>
          </a:prstGeom>
          <a:ln w="25400">
            <a:solidFill>
              <a:srgbClr val="6B7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31136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7E96"/>
                </a:solidFill>
                <a:latin typeface="Calibri"/>
              </a:rPr>
              <a:t>[Now]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251460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[Owner, access, and prerequisites]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194560"/>
            <a:ext cx="566928" cy="566928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31136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478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7E96"/>
                </a:solidFill>
                <a:latin typeface="Calibri"/>
              </a:rPr>
              <a:t>[Short test]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77639"/>
            <a:ext cx="251460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[Scope and success criteria]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2194560"/>
            <a:ext cx="566928" cy="566928"/>
          </a:xfrm>
          <a:prstGeom prst="ellipse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31136"/>
            <a:ext cx="5669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063240"/>
            <a:ext cx="23774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100" b="1" i="0">
                <a:solidFill>
                  <a:srgbClr val="1B2E4B"/>
                </a:solidFill>
                <a:latin typeface="Georgia"/>
              </a:rPr>
              <a:t>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4787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7E96"/>
                </a:solidFill>
                <a:latin typeface="Calibri"/>
              </a:rPr>
              <a:t>[After review]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977639"/>
            <a:ext cx="251460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[Decision to scale or revise]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13  / 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Impact and resources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5120640" cy="3566160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120640" cy="3566160"/>
          </a:xfrm>
          <a:prstGeom prst="rect">
            <a:avLst/>
          </a:prstGeom>
          <a:solidFill>
            <a:srgbClr val="E0E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EXPECTED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5262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[Business, customer, safety, or service benefit]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6499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6499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[Benefit 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0507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[Benefit 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4515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4515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[Benefit 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057400"/>
            <a:ext cx="36576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COSTS AND TRADEOFFS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50592"/>
            <a:ext cx="45262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[Money, time, staffing, or customer friction]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6499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36499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[Cost or tradeoff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0507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0507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[Cost or tradeoff 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45152"/>
            <a:ext cx="228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645152"/>
            <a:ext cx="42062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[Cost or tradeoff 3]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14  / 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How success will be measured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Choose measures that show the recommendation is working.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5074920" cy="1188720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4572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45262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 i="0">
                <a:solidFill>
                  <a:srgbClr val="1B2E4B"/>
                </a:solidFill>
                <a:latin typeface="Georgia"/>
              </a:rPr>
              <a:t>[Target / measure]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40280"/>
            <a:ext cx="5074920" cy="1188720"/>
          </a:xfrm>
          <a:prstGeom prst="rect">
            <a:avLst/>
          </a:prstGeom>
          <a:solidFill>
            <a:srgbClr val="E0E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4572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0632"/>
            <a:ext cx="45262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 i="0">
                <a:solidFill>
                  <a:srgbClr val="1B2E4B"/>
                </a:solidFill>
                <a:latin typeface="Georgia"/>
              </a:rPr>
              <a:t>[Target / measure]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813048"/>
            <a:ext cx="5074920" cy="1188720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95928"/>
            <a:ext cx="4572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CUSTOMER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400"/>
            <a:ext cx="45262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 i="0">
                <a:solidFill>
                  <a:srgbClr val="1B2E4B"/>
                </a:solidFill>
                <a:latin typeface="Georgia"/>
              </a:rPr>
              <a:t>[Target / measure]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13048"/>
            <a:ext cx="5074920" cy="1188720"/>
          </a:xfrm>
          <a:prstGeom prst="rect">
            <a:avLst/>
          </a:prstGeom>
          <a:solidFill>
            <a:srgbClr val="E0E8F2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95928"/>
            <a:ext cx="45720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COST / EFFORT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45262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900" b="1" i="0">
                <a:solidFill>
                  <a:srgbClr val="1B2E4B"/>
                </a:solidFill>
                <a:latin typeface="Georgia"/>
              </a:rPr>
              <a:t>[Target / measure]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2E4B"/>
          </a:solidFill>
          <a:ln>
            <a:solidFill>
              <a:srgbClr val="1B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13816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15  / 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9052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1B2E4B"/>
                </a:solidFill>
                <a:latin typeface="Georgia"/>
              </a:rPr>
              <a:t>Sources and open questions</a:t>
            </a:r>
          </a:p>
        </p:txBody>
      </p:sp>
      <p:pic>
        <p:nvPicPr>
          <p:cNvPr id="5" name="Picture 4" descr="exec-f17a242b-3b7c-4631-b151-1e0814bf24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566928" y="1307592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400800"/>
            <a:ext cx="11027664" cy="0"/>
          </a:xfrm>
          <a:prstGeom prst="line">
            <a:avLst/>
          </a:prstGeom>
          <a:ln w="1270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9224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E96"/>
                </a:solidFill>
                <a:latin typeface="Calibri"/>
              </a:rPr>
              <a:t>CPTC  /  BUSINESS INJECT  /  [ORGANIZATION]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473952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6B7E96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1"/>
            <a:ext cx="3474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57400"/>
            <a:ext cx="425196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[Author, title, organization, date, and link]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16352"/>
            <a:ext cx="3474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88920"/>
            <a:ext cx="425196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[Author, title, organization, date, and link]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547872"/>
            <a:ext cx="3474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0440"/>
            <a:ext cx="425196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[Author, title, organization, date, and link]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79392"/>
            <a:ext cx="3474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6B7E96"/>
                </a:solidFill>
                <a:latin typeface="Calibri"/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51959"/>
            <a:ext cx="425196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1">
                <a:solidFill>
                  <a:srgbClr val="626D7B"/>
                </a:solidFill>
                <a:latin typeface="Calibri"/>
              </a:rPr>
              <a:t>[Author, title, organization, date, and link]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80" y="1691640"/>
            <a:ext cx="0" cy="4069080"/>
          </a:xfrm>
          <a:prstGeom prst="line">
            <a:avLst/>
          </a:prstGeom>
          <a:ln w="15240">
            <a:solidFill>
              <a:srgbClr val="D3D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1682496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29968"/>
            <a:ext cx="46634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[What did you assume because information was unavailable?]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73552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OPEN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21024"/>
            <a:ext cx="46634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 i="1">
                <a:solidFill>
                  <a:srgbClr val="626D7B"/>
                </a:solidFill>
                <a:latin typeface="Calibri"/>
              </a:rPr>
              <a:t>[What should be confirmed before action?]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846320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7E96"/>
                </a:solidFill>
                <a:latin typeface="Calibri"/>
              </a:rPr>
              <a:t>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193792"/>
            <a:ext cx="46634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 i="1">
                <a:solidFill>
                  <a:srgbClr val="626D7B"/>
                </a:solidFill>
                <a:latin typeface="Calibri"/>
              </a:rPr>
              <a:t>[What could change the recommendation?]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64224"/>
            <a:ext cx="12191695" cy="493776"/>
          </a:xfrm>
          <a:prstGeom prst="rect">
            <a:avLst/>
          </a:prstGeom>
          <a:solidFill>
            <a:srgbClr val="6B7E96"/>
          </a:solidFill>
          <a:ln>
            <a:solidFill>
              <a:srgbClr val="6B7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777240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519672"/>
            <a:ext cx="4572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CPTC  /  BUSINESS INJECT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201168"/>
            <a:ext cx="1417320" cy="841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CPTC Business Inject Presentation Template</dc:title>
  <dc:subject>Editable 17-slide CPTC business inject template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